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FairMobility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Dive: Technical &amp; Mathematical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Graph Topology: Delaunay Triangulation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Circumcircle Criterion: </a:t>
            </a:r>
          </a:p>
          <a:p>
            <a:r>
              <a:t>No intersection inside the circumcircle of any triangle.</a:t>
            </a:r>
          </a:p>
          <a:p/>
          <a:p>
            <a:r>
              <a:t>Topological Application:</a:t>
            </a:r>
          </a:p>
          <a:p>
            <a:r>
              <a:t>- Maximizes minimum angles (no long skinny roads).</a:t>
            </a:r>
          </a:p>
          <a:p>
            <a:r>
              <a:t>- Reconstructs planar mesh in O(V log V) time.</a:t>
            </a:r>
          </a:p>
          <a:p>
            <a:r>
              <a:t>- Essential for fluid dynamics.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Physics: Webster HCM &amp; Dynamic Phasing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Formula: Webster Uniform Delay + Oversaturation Penalty</a:t>
            </a:r>
          </a:p>
          <a:p/>
          <a:p>
            <a:r>
              <a:t>Dynamic Direction Reversal:</a:t>
            </a:r>
          </a:p>
          <a:p>
            <a:r>
              <a:t>- Manipulates Lambda (Green Split) in real-time.</a:t>
            </a:r>
          </a:p>
          <a:p>
            <a:r>
              <a:t>- Reverses intersection priority on the fly.</a:t>
            </a:r>
          </a:p>
          <a:p>
            <a:r>
              <a:t>- Prevents exponential delay explosions when x &gt;= 0.95.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The Routing: Spatial Water-filling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Formula: Fractional Lane-Weighted Diffusion</a:t>
            </a:r>
          </a:p>
          <a:p/>
          <a:p>
            <a:r>
              <a:t>Example Application:</a:t>
            </a:r>
          </a:p>
          <a:p>
            <a:r>
              <a:t>- Sheds excess cars to neighbors.</a:t>
            </a:r>
          </a:p>
          <a:p>
            <a:r>
              <a:t>- 4-lane avenues absorb 80%.</a:t>
            </a:r>
          </a:p>
          <a:p>
            <a:r>
              <a:t>- 1-lane alleys absorb 20%.</a:t>
            </a:r>
          </a:p>
          <a:p>
            <a:r>
              <a:t>- Prevents instant micro-gridlocks.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The AI Model: PPO Neural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Algorithm: Proximal Policy Optimization (stable-baselines3)</a:t>
            </a:r>
          </a:p>
          <a:p/>
          <a:p>
            <a:r>
              <a:t>Architecture: MlpPolicy Actor-Critic</a:t>
            </a:r>
          </a:p>
          <a:p>
            <a:r>
              <a:t>- Hidden Layers: [64, 64] with Tanh.</a:t>
            </a:r>
          </a:p>
          <a:p/>
          <a:p>
            <a:r>
              <a:t>Space:</a:t>
            </a:r>
          </a:p>
          <a:p>
            <a:r>
              <a:t>- Observation: 4D Tensor (Emissions, Variance, Bus Delay, Global Delay)</a:t>
            </a:r>
          </a:p>
          <a:p>
            <a:r>
              <a:t>- Action: 3D Continuous Tensor (Routing Weights)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Continuous Pareto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Reward Function: Multi-Objective Gradient Descent</a:t>
            </a:r>
          </a:p>
          <a:p/>
          <a:p>
            <a:r>
              <a:t>Mechanism:</a:t>
            </a:r>
          </a:p>
          <a:p>
            <a:r>
              <a:t>- No hardcoded panic limits.</a:t>
            </a:r>
          </a:p>
          <a:p>
            <a:r>
              <a:t>- Penalties scale continuously.</a:t>
            </a:r>
          </a:p>
          <a:p>
            <a:r>
              <a:t>- Forces neural network to find exact Pareto Equilibrium between total pollution and global delay.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Computational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Day-use Scalability (Linear Time O(V)):</a:t>
            </a:r>
          </a:p>
          <a:p/>
          <a:p>
            <a:r>
              <a:t>- Routing: O(k*V)</a:t>
            </a:r>
          </a:p>
          <a:p>
            <a:r>
              <a:t>- Webster HCM: O(V)</a:t>
            </a:r>
          </a:p>
          <a:p>
            <a:r>
              <a:t>- AI Inference: O(1) constant time (milliseconds).</a:t>
            </a:r>
          </a:p>
          <a:p>
            <a:r>
              <a:t>- Result: Deploys on standard municipal hardware without GPUs.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Autonomous Mayor:</a:t>
            </a:r>
          </a:p>
          <a:p>
            <a:r>
              <a:t>- Mathematical reduction in total delay.</a:t>
            </a:r>
          </a:p>
          <a:p>
            <a:r>
              <a:t>- Mathematical reduction in total kg of pollution.</a:t>
            </a:r>
          </a:p>
          <a:p>
            <a:r>
              <a:t>- Engineering Northern European efficiency equitably.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